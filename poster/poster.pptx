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76000" cy="4280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8000" y="648000"/>
            <a:ext cx="28980000" cy="3600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in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080000"/>
            <a:ext cx="1207040" cy="165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56000" y="720000"/>
            <a:ext cx="23148000" cy="20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400" b="1" i="0">
                <a:solidFill>
                  <a:srgbClr val="1A3A5C"/>
                </a:solidFill>
                <a:latin typeface="Times New Roman"/>
              </a:rPr>
              <a:t>C-HASAC: Contextual Heterogeneous-Agent SAC</a:t>
            </a:r>
          </a:p>
          <a:p>
            <a:pPr algn="ctr">
              <a:spcBef>
                <a:spcPts val="400"/>
              </a:spcBef>
            </a:pPr>
            <a:r>
              <a:rPr sz="6000" b="1" i="0">
                <a:solidFill>
                  <a:srgbClr val="1A3A5C"/>
                </a:solidFill>
                <a:latin typeface="Times New Roman"/>
              </a:rPr>
              <a:t>for Decentralized 5G Power Coordination via Learned Latent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56000" y="2952000"/>
            <a:ext cx="2314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u="sng">
                <a:solidFill>
                  <a:srgbClr val="212529"/>
                </a:solidFill>
                <a:latin typeface="Times New Roman"/>
              </a:rPr>
              <a:t>Yi-Chieh Hong</a:t>
            </a:r>
            <a:r>
              <a:rPr sz="4800" b="0">
                <a:solidFill>
                  <a:srgbClr val="212529"/>
                </a:solidFill>
                <a:latin typeface="Times New Roman"/>
              </a:rPr>
              <a:t>,  Yen-Ting Kuo</a:t>
            </a:r>
            <a:r>
              <a:rPr sz="4800" b="0">
                <a:solidFill>
                  <a:srgbClr val="212529"/>
                </a:solidFill>
                <a:latin typeface="Times New Roman"/>
              </a:rPr>
              <a:t>,  Wen-Ju Chiang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000" y="3672000"/>
            <a:ext cx="23148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1">
                <a:solidFill>
                  <a:srgbClr val="6C757D"/>
                </a:solidFill>
                <a:latin typeface="Times New Roman"/>
              </a:rPr>
              <a:t>WinLab, National Yang Ming Chiao Tung University (NYCU)  ·  535518 Deep Learning Final Project,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676000" y="936000"/>
            <a:ext cx="2880000" cy="16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000" b="1" i="0">
                <a:solidFill>
                  <a:srgbClr val="1A3A5C"/>
                </a:solidFill>
                <a:latin typeface="Times New Roman"/>
              </a:rPr>
              <a:t>National Yang Ming</a:t>
            </a:r>
          </a:p>
          <a:p>
            <a:pPr algn="r"/>
            <a:r>
              <a:rPr sz="3000" b="1" i="0">
                <a:solidFill>
                  <a:srgbClr val="1A3A5C"/>
                </a:solidFill>
                <a:latin typeface="Times New Roman"/>
              </a:rPr>
              <a:t>Chiao Tung University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648000" y="4536000"/>
            <a:ext cx="14310000" cy="1512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000" y="4680000"/>
            <a:ext cx="14022000" cy="12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400" b="1" i="0">
                <a:solidFill>
                  <a:srgbClr val="FFFFFF"/>
                </a:solidFill>
                <a:latin typeface="Times New Roman"/>
              </a:rPr>
              <a:t>Background &amp; Motivation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8000" y="6048000"/>
            <a:ext cx="14310000" cy="9180000"/>
          </a:xfrm>
          <a:prstGeom prst="rect">
            <a:avLst/>
          </a:prstGeom>
          <a:solidFill>
            <a:srgbClr val="FFFFFF"/>
          </a:solidFill>
          <a:ln w="508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8000" y="6264000"/>
            <a:ext cx="13950000" cy="87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0" i="0">
                <a:solidFill>
                  <a:srgbClr val="212529"/>
                </a:solidFill>
                <a:latin typeface="Times New Roman"/>
              </a:rPr>
              <a:t>• 5G multi-cell networks: inter-cell interference degrades PF fairness.</a:t>
            </a:r>
          </a:p>
          <a:p>
            <a:pPr algn="l">
              <a:spcBef>
                <a:spcPts val="600"/>
              </a:spcBef>
            </a:pPr>
            <a:r>
              <a:rPr sz="4200" b="0" i="0">
                <a:solidFill>
                  <a:srgbClr val="212529"/>
                </a:solidFill>
                <a:latin typeface="Times New Roman"/>
              </a:rPr>
              <a:t>• Goal: maximize Proportional-Fair utility across all UEs:</a:t>
            </a:r>
          </a:p>
          <a:p>
            <a:pPr algn="ctr">
              <a:spcBef>
                <a:spcPts val="400"/>
              </a:spcBef>
            </a:pPr>
            <a:r>
              <a:rPr sz="4800" b="1" i="0">
                <a:solidFill>
                  <a:srgbClr val="1A3A5C"/>
                </a:solidFill>
                <a:latin typeface="Times New Roman"/>
              </a:rPr>
              <a:t>        U  =  Σu  log( R̄u + ε )</a:t>
            </a:r>
          </a:p>
          <a:p>
            <a:pPr algn="l">
              <a:spcBef>
                <a:spcPts val="600"/>
              </a:spcBef>
            </a:pPr>
            <a:r>
              <a:rPr sz="4200" b="0" i="0">
                <a:solidFill>
                  <a:srgbClr val="212529"/>
                </a:solidFill>
                <a:latin typeface="Times New Roman"/>
              </a:rPr>
              <a:t>• O-RAN constraint: each gNB observes only local UE metrics at runtime.</a:t>
            </a:r>
          </a:p>
          <a:p>
            <a:pPr algn="l"/>
            <a:r>
              <a:rPr sz="4200" b="0" i="0">
                <a:solidFill>
                  <a:srgbClr val="212529"/>
                </a:solidFill>
                <a:latin typeface="Times New Roman"/>
              </a:rPr>
              <a:t>  No direct neighbor CSI exchange is permitted.</a:t>
            </a:r>
          </a:p>
          <a:p>
            <a:pPr algn="l">
              <a:spcBef>
                <a:spcPts val="600"/>
              </a:spcBef>
            </a:pPr>
            <a:r>
              <a:rPr sz="4200" b="0" i="0">
                <a:solidFill>
                  <a:srgbClr val="212529"/>
                </a:solidFill>
                <a:latin typeface="Times New Roman"/>
              </a:rPr>
              <a:t>• RIC xApp computes latent context z from KPM measurements</a:t>
            </a:r>
          </a:p>
          <a:p>
            <a:pPr algn="l"/>
            <a:r>
              <a:rPr sz="4200" b="0" i="0">
                <a:solidFill>
                  <a:srgbClr val="2E86AB"/>
                </a:solidFill>
                <a:latin typeface="Times New Roman"/>
              </a:rPr>
              <a:t>  and pushes to gNBs via E2 interface — coordination without CSI leakage.</a:t>
            </a:r>
          </a:p>
          <a:p>
            <a:pPr algn="ctr">
              <a:spcBef>
                <a:spcPts val="1000"/>
              </a:spcBef>
            </a:pPr>
            <a:r>
              <a:rPr sz="2800" b="0" i="1">
                <a:solidFill>
                  <a:srgbClr val="6C757D"/>
                </a:solidFill>
                <a:latin typeface="Times New Roman"/>
              </a:rPr>
              <a:t>── O-RAN: RIC ↔ E2 ↔ BS1 / BS2 / BS3  (KPM↑, z↓) ──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8000" y="15516000"/>
            <a:ext cx="14310000" cy="1512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000" y="15660000"/>
            <a:ext cx="14022000" cy="12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400" b="1" i="0">
                <a:solidFill>
                  <a:srgbClr val="FFFFFF"/>
                </a:solidFill>
                <a:latin typeface="Times New Roman"/>
              </a:rPr>
              <a:t>Architecture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8000" y="17028000"/>
            <a:ext cx="14310000" cy="12600000"/>
          </a:xfrm>
          <a:prstGeom prst="rect">
            <a:avLst/>
          </a:prstGeom>
          <a:solidFill>
            <a:srgbClr val="FFFFFF"/>
          </a:solidFill>
          <a:ln w="508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000" y="17244000"/>
            <a:ext cx="1395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1A3A5C"/>
                </a:solidFill>
                <a:latin typeface="Times New Roman"/>
              </a:rPr>
              <a:t>Three-Layer Information Flow (strict separation)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8000" y="17964000"/>
            <a:ext cx="504000" cy="504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000" y="18000000"/>
            <a:ext cx="50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Times New Roman"/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0000" y="17964000"/>
            <a:ext cx="13338000" cy="10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0" i="0">
                <a:solidFill>
                  <a:srgbClr val="212529"/>
                </a:solidFill>
                <a:latin typeface="Times New Roman"/>
              </a:rPr>
              <a:t>BS-local obs:  per-UE {rate, PF weight, power}  →  Actor input (gNB-measurable in O-RAN)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8000" y="19044000"/>
            <a:ext cx="504000" cy="504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000" y="19080000"/>
            <a:ext cx="50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Times New Roman"/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0000" y="19044000"/>
            <a:ext cx="13338000" cy="10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0" i="0">
                <a:solidFill>
                  <a:srgbClr val="212529"/>
                </a:solidFill>
                <a:latin typeface="Times New Roman"/>
              </a:rPr>
              <a:t>RIC KPM:  {load, throughput, P_BS, BS-distances} × 3  →  Encoder → z[16] → all Actors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8000" y="20124000"/>
            <a:ext cx="504000" cy="5040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000" y="20160000"/>
            <a:ext cx="50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Times New Roman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0000" y="20124000"/>
            <a:ext cx="13338000" cy="10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0" i="0">
                <a:solidFill>
                  <a:srgbClr val="212529"/>
                </a:solidFill>
                <a:latin typeface="Times New Roman"/>
              </a:rPr>
              <a:t>Privileged:  full CSI g-matrix  →  Critic + reward  (training only, never deployed)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8000" y="21276000"/>
            <a:ext cx="13950000" cy="180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000" y="21420000"/>
            <a:ext cx="1395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1A3A5C"/>
                </a:solidFill>
                <a:latin typeface="Times New Roman"/>
              </a:rPr>
              <a:t>Model Flow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6000" y="22068000"/>
            <a:ext cx="1800000" cy="792000"/>
          </a:xfrm>
          <a:prstGeom prst="rect">
            <a:avLst/>
          </a:prstGeom>
          <a:solidFill>
            <a:srgbClr val="FFF3CD"/>
          </a:solidFill>
          <a:ln w="381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8000" y="22104000"/>
            <a:ext cx="1656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3A5C"/>
                </a:solidFill>
                <a:latin typeface="Times New Roman"/>
              </a:rPr>
              <a:t>KPM
[3×5]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52000" y="22068000"/>
            <a:ext cx="2340000" cy="792000"/>
          </a:xfrm>
          <a:prstGeom prst="rect">
            <a:avLst/>
          </a:prstGeom>
          <a:solidFill>
            <a:srgbClr val="D4EDDA"/>
          </a:solidFill>
          <a:ln w="381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24000" y="22104000"/>
            <a:ext cx="2196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3A5C"/>
                </a:solidFill>
                <a:latin typeface="Times New Roman"/>
              </a:rPr>
              <a:t>Encoder
(MLP→pool)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08000" y="22068000"/>
            <a:ext cx="1620000" cy="792000"/>
          </a:xfrm>
          <a:prstGeom prst="rect">
            <a:avLst/>
          </a:prstGeom>
          <a:solidFill>
            <a:srgbClr val="CCE5FF"/>
          </a:solidFill>
          <a:ln w="381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80000" y="22104000"/>
            <a:ext cx="1476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3A5C"/>
                </a:solidFill>
                <a:latin typeface="Times New Roman"/>
              </a:rPr>
              <a:t>z  [16]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6000" y="22104000"/>
            <a:ext cx="2736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E86AB"/>
                </a:solidFill>
                <a:latin typeface="Times New Roman"/>
              </a:rPr>
              <a:t>→ broadcast
  to all Actors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08000" y="22176000"/>
            <a:ext cx="28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2E86AB"/>
                </a:solidFill>
                <a:latin typeface="Times New Roman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36000" y="22176000"/>
            <a:ext cx="28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2E86AB"/>
                </a:solidFill>
                <a:latin typeface="Times New Roman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44000" y="22176000"/>
            <a:ext cx="28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2E86AB"/>
                </a:solidFill>
                <a:latin typeface="Times New Roman"/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36000" y="23148000"/>
            <a:ext cx="2448000" cy="792000"/>
          </a:xfrm>
          <a:prstGeom prst="rect">
            <a:avLst/>
          </a:prstGeom>
          <a:solidFill>
            <a:srgbClr val="F8D7DA"/>
          </a:solidFill>
          <a:ln w="381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8000" y="23184000"/>
            <a:ext cx="2304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3A5C"/>
                </a:solidFill>
                <a:latin typeface="Times New Roman"/>
              </a:rPr>
              <a:t>local obs
[N_UE,i × 3]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00000" y="23184000"/>
            <a:ext cx="648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E86AB"/>
                </a:solidFill>
                <a:latin typeface="Times New Roman"/>
              </a:rPr>
              <a:t>+  z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64000" y="23148000"/>
            <a:ext cx="2880000" cy="792000"/>
          </a:xfrm>
          <a:prstGeom prst="rect">
            <a:avLst/>
          </a:prstGeom>
          <a:solidFill>
            <a:srgbClr val="E2D9F3"/>
          </a:solidFill>
          <a:ln w="381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36000" y="23184000"/>
            <a:ext cx="2736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3A5C"/>
                </a:solidFill>
                <a:latin typeface="Times New Roman"/>
              </a:rPr>
              <a:t>SetActor
(perm-equivariant)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88000" y="23148000"/>
            <a:ext cx="1980000" cy="792000"/>
          </a:xfrm>
          <a:prstGeom prst="rect">
            <a:avLst/>
          </a:prstGeom>
          <a:solidFill>
            <a:srgbClr val="D1ECF1"/>
          </a:solidFill>
          <a:ln w="381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60000" y="23184000"/>
            <a:ext cx="1836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3A5C"/>
                </a:solidFill>
                <a:latin typeface="Times New Roman"/>
              </a:rPr>
              <a:t>power
≤ P_max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2000" y="23256000"/>
            <a:ext cx="3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2E86AB"/>
                </a:solidFill>
                <a:latin typeface="Times New Roman"/>
              </a:rPr>
              <a:t>→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8000" y="24228000"/>
            <a:ext cx="13950000" cy="792000"/>
          </a:xfrm>
          <a:prstGeom prst="rect">
            <a:avLst/>
          </a:prstGeom>
          <a:solidFill>
            <a:srgbClr val="F0F8FF"/>
          </a:solidFill>
          <a:ln w="508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72000" y="24336000"/>
            <a:ext cx="13662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A3A5C"/>
                </a:solidFill>
                <a:latin typeface="Times New Roman"/>
              </a:rPr>
              <a:t>ONLY DIFFERENCE:  C-HASAC actor receives z   |   HASAC actor does NOT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8000" y="25236000"/>
            <a:ext cx="13950000" cy="180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8000" y="25416000"/>
            <a:ext cx="13950000" cy="40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A3A5C"/>
                </a:solidFill>
                <a:latin typeface="Times New Roman"/>
              </a:rPr>
              <a:t>HASAC: Sequential Soft Policy Decomposition (Liu et al., ICLR 2024 §3.3)</a:t>
            </a:r>
          </a:p>
          <a:p>
            <a:pPr algn="l">
              <a:spcBef>
                <a:spcPts val="400"/>
              </a:spcBef>
            </a:pPr>
            <a:r>
              <a:rPr sz="4200" b="0" i="0">
                <a:solidFill>
                  <a:srgbClr val="212529"/>
                </a:solidFill>
                <a:latin typeface="Times New Roman"/>
              </a:rPr>
              <a:t>Each BS updates in random permutation order → converges to QRE</a:t>
            </a:r>
          </a:p>
          <a:p>
            <a:pPr algn="l">
              <a:spcBef>
                <a:spcPts val="200"/>
              </a:spcBef>
            </a:pPr>
            <a:r>
              <a:rPr sz="3200" b="0" i="1">
                <a:solidFill>
                  <a:srgbClr val="6C757D"/>
                </a:solidFill>
                <a:latin typeface="Times New Roman"/>
              </a:rPr>
              <a:t>(Quantal Response Equilibrium = global MaxEnt optimum, not sub-optimal NE)</a:t>
            </a:r>
          </a:p>
          <a:p>
            <a:pPr algn="l">
              <a:spcBef>
                <a:spcPts val="400"/>
              </a:spcBef>
            </a:pPr>
            <a:r>
              <a:rPr sz="4200" b="0" i="0">
                <a:solidFill>
                  <a:srgbClr val="28A745"/>
                </a:solidFill>
                <a:latin typeface="Times New Roman"/>
              </a:rPr>
              <a:t>Empirical:  sequential HASAC −2.581  vs  simultaneous −5.184  (+2.6 PF-U ✓)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8000" y="29916000"/>
            <a:ext cx="14310000" cy="1512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2000" y="30060000"/>
            <a:ext cx="14022000" cy="12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400" b="1" i="0">
                <a:solidFill>
                  <a:srgbClr val="FFFFFF"/>
                </a:solidFill>
                <a:latin typeface="Times New Roman"/>
              </a:rPr>
              <a:t>Experimental Setup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8000" y="31428000"/>
            <a:ext cx="14310000" cy="7920000"/>
          </a:xfrm>
          <a:prstGeom prst="rect">
            <a:avLst/>
          </a:prstGeom>
          <a:solidFill>
            <a:srgbClr val="FFFFFF"/>
          </a:solidFill>
          <a:ln w="508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8000" y="31644000"/>
            <a:ext cx="6903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A3A5C"/>
                </a:solidFill>
                <a:latin typeface="Times New Roman"/>
              </a:rPr>
              <a:t>Simulation (DeepMIMO)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8000" y="32256000"/>
            <a:ext cx="6903000" cy="31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0" i="0">
                <a:solidFill>
                  <a:srgbClr val="212529"/>
                </a:solidFill>
                <a:latin typeface="Times New Roman"/>
              </a:rPr>
              <a:t>•  N_BS = 3,  N_UE = 12</a:t>
            </a:r>
          </a:p>
          <a:p>
            <a:pPr algn="l"/>
            <a:r>
              <a:rPr sz="4200" b="0" i="0">
                <a:solidFill>
                  <a:srgbClr val="212529"/>
                </a:solidFill>
                <a:latin typeface="Times New Roman"/>
              </a:rPr>
              <a:t>•  Per-BS sum-power ≤ P_max</a:t>
            </a:r>
          </a:p>
          <a:p>
            <a:pPr algn="l"/>
            <a:r>
              <a:rPr sz="4200" b="0" i="0">
                <a:solidFill>
                  <a:srgbClr val="212529"/>
                </a:solidFill>
                <a:latin typeface="Times New Roman"/>
              </a:rPr>
              <a:t>•  Best-signal cell association</a:t>
            </a:r>
          </a:p>
          <a:p>
            <a:pPr algn="l"/>
            <a:r>
              <a:rPr sz="4200" b="0" i="0">
                <a:solidFill>
                  <a:srgbClr val="212529"/>
                </a:solidFill>
                <a:latin typeface="Times New Roman"/>
              </a:rPr>
              <a:t>•  Episode length T = 10 steps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75000" y="31644000"/>
            <a:ext cx="6903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A3A5C"/>
                </a:solidFill>
                <a:latin typeface="Times New Roman"/>
              </a:rPr>
              <a:t>Model &amp; Training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75000" y="32256000"/>
            <a:ext cx="6903000" cy="31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0" i="0">
                <a:solidFill>
                  <a:srgbClr val="212529"/>
                </a:solidFill>
                <a:latin typeface="Times New Roman"/>
              </a:rPr>
              <a:t>•  z_dim=16,  kpm_dim=5</a:t>
            </a:r>
          </a:p>
          <a:p>
            <a:pPr algn="l"/>
            <a:r>
              <a:rPr sz="4200" b="0" i="0">
                <a:solidFill>
                  <a:srgbClr val="212529"/>
                </a:solidFill>
                <a:latin typeface="Times New Roman"/>
              </a:rPr>
              <a:t>•  share_dim=63  (critic)</a:t>
            </a:r>
          </a:p>
          <a:p>
            <a:pPr algn="l"/>
            <a:r>
              <a:rPr sz="4200" b="0" i="0">
                <a:solidFill>
                  <a:srgbClr val="212529"/>
                </a:solidFill>
                <a:latin typeface="Times New Roman"/>
              </a:rPr>
              <a:t>•  Hidden=256,  SAC Twin-Q</a:t>
            </a:r>
          </a:p>
          <a:p>
            <a:pPr algn="l"/>
            <a:r>
              <a:rPr sz="4200" b="0" i="0">
                <a:solidFill>
                  <a:srgbClr val="212529"/>
                </a:solidFill>
                <a:latin typeface="Times New Roman"/>
              </a:rPr>
              <a:t>•  BC warm-start 1000 steps</a:t>
            </a:r>
          </a:p>
          <a:p>
            <a:pPr algn="l"/>
            <a:r>
              <a:rPr sz="4200" b="0" i="0">
                <a:solidFill>
                  <a:srgbClr val="212529"/>
                </a:solidFill>
                <a:latin typeface="Times New Roman"/>
              </a:rPr>
              <a:t>•  μ-bound=5  (tanh anti-collapse)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8000" y="35604000"/>
            <a:ext cx="13950000" cy="180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8000" y="35748000"/>
            <a:ext cx="1395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A3A5C"/>
                </a:solidFill>
                <a:latin typeface="Times New Roman"/>
              </a:rPr>
              <a:t>Evaluation Metric: PF-Utility (50 held-out episodes)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8000" y="36288000"/>
            <a:ext cx="1395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1A3A5C"/>
                </a:solidFill>
                <a:latin typeface="Times New Roman"/>
              </a:rPr>
              <a:t>U  =  Σu  log( R̄u + 10⁻⁶ 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28000" y="37260000"/>
            <a:ext cx="4554000" cy="1584000"/>
          </a:xfrm>
          <a:prstGeom prst="rect">
            <a:avLst/>
          </a:prstGeom>
          <a:solidFill>
            <a:srgbClr val="F0F8FF"/>
          </a:solidFill>
          <a:ln w="381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00000" y="37332000"/>
            <a:ext cx="441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6C757D"/>
                </a:solidFill>
                <a:latin typeface="Times New Roman"/>
              </a:rPr>
              <a:t>−5.332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0000" y="38196000"/>
            <a:ext cx="441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6C757D"/>
                </a:solidFill>
                <a:latin typeface="Times New Roman"/>
              </a:rPr>
              <a:t>Floor (equal power)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526000" y="37260000"/>
            <a:ext cx="4554000" cy="1584000"/>
          </a:xfrm>
          <a:prstGeom prst="rect">
            <a:avLst/>
          </a:prstGeom>
          <a:solidFill>
            <a:srgbClr val="F0F8FF"/>
          </a:solidFill>
          <a:ln w="381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598000" y="37332000"/>
            <a:ext cx="441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28A745"/>
                </a:solidFill>
                <a:latin typeface="Times New Roman"/>
              </a:rPr>
              <a:t>−1.162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98000" y="38196000"/>
            <a:ext cx="441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6C757D"/>
                </a:solidFill>
                <a:latin typeface="Times New Roman"/>
              </a:rPr>
              <a:t>Best C-HASAC (400k)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224000" y="37260000"/>
            <a:ext cx="4554000" cy="1584000"/>
          </a:xfrm>
          <a:prstGeom prst="rect">
            <a:avLst/>
          </a:prstGeom>
          <a:solidFill>
            <a:srgbClr val="F0F8FF"/>
          </a:solidFill>
          <a:ln w="381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296000" y="37332000"/>
            <a:ext cx="441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6C757D"/>
                </a:solidFill>
                <a:latin typeface="Times New Roman"/>
              </a:rPr>
              <a:t>+23.529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296000" y="38196000"/>
            <a:ext cx="441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6C757D"/>
                </a:solidFill>
                <a:latin typeface="Times New Roman"/>
              </a:rPr>
              <a:t>Ceiling (PF-WSR)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5318000" y="4536000"/>
            <a:ext cx="14310000" cy="1512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5462000" y="4680000"/>
            <a:ext cx="14022000" cy="12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400" b="1" i="0">
                <a:solidFill>
                  <a:srgbClr val="FFFFFF"/>
                </a:solidFill>
                <a:latin typeface="Times New Roman"/>
              </a:rPr>
              <a:t>Results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5318000" y="6048000"/>
            <a:ext cx="14310000" cy="17280000"/>
          </a:xfrm>
          <a:prstGeom prst="rect">
            <a:avLst/>
          </a:prstGeom>
          <a:solidFill>
            <a:srgbClr val="FFFFFF"/>
          </a:solidFill>
          <a:ln w="508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5498000" y="6228000"/>
            <a:ext cx="4554000" cy="1584000"/>
          </a:xfrm>
          <a:prstGeom prst="rect">
            <a:avLst/>
          </a:prstGeom>
          <a:solidFill>
            <a:srgbClr val="F0F8FF"/>
          </a:solidFill>
          <a:ln w="381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5570000" y="6300000"/>
            <a:ext cx="441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1A3A5C"/>
                </a:solidFill>
                <a:latin typeface="Times New Roman"/>
              </a:rPr>
              <a:t>+1.42 PF-U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5570000" y="7164000"/>
            <a:ext cx="441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6C757D"/>
                </a:solidFill>
                <a:latin typeface="Times New Roman"/>
              </a:rPr>
              <a:t>Gain: C-HASAC − HASAC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0196000" y="6228000"/>
            <a:ext cx="4554000" cy="1584000"/>
          </a:xfrm>
          <a:prstGeom prst="rect">
            <a:avLst/>
          </a:prstGeom>
          <a:solidFill>
            <a:srgbClr val="F0F8FF"/>
          </a:solidFill>
          <a:ln w="381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0268000" y="6300000"/>
            <a:ext cx="441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28A745"/>
                </a:solidFill>
                <a:latin typeface="Times New Roman"/>
              </a:rPr>
              <a:t>+2.278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268000" y="7164000"/>
            <a:ext cx="441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6C757D"/>
                </a:solidFill>
                <a:latin typeface="Times New Roman"/>
              </a:rPr>
              <a:t>drop_shuffle (400k)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4894000" y="6228000"/>
            <a:ext cx="4554000" cy="1584000"/>
          </a:xfrm>
          <a:prstGeom prst="rect">
            <a:avLst/>
          </a:prstGeom>
          <a:solidFill>
            <a:srgbClr val="F0F8FF"/>
          </a:solidFill>
          <a:ln w="381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4966000" y="6300000"/>
            <a:ext cx="441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28A745"/>
                </a:solidFill>
                <a:latin typeface="Times New Roman"/>
              </a:rPr>
              <a:t>−1.162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4966000" y="7164000"/>
            <a:ext cx="441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6C757D"/>
                </a:solidFill>
                <a:latin typeface="Times New Roman"/>
              </a:rPr>
              <a:t>Best C-HASAC PF-U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5498000" y="8064000"/>
            <a:ext cx="4248000" cy="504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5570000" y="8136000"/>
            <a:ext cx="410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Times New Roman"/>
              </a:rPr>
              <a:t>Method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9746000" y="8064000"/>
            <a:ext cx="1368000" cy="504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9818000" y="8136000"/>
            <a:ext cx="122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Times New Roman"/>
              </a:rPr>
              <a:t>PF-U (↑)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1114000" y="8064000"/>
            <a:ext cx="1368000" cy="504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1186000" y="8136000"/>
            <a:ext cx="122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Times New Roman"/>
              </a:rPr>
              <a:t>drop_zero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2482000" y="8064000"/>
            <a:ext cx="1656000" cy="504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2554000" y="8136000"/>
            <a:ext cx="151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Times New Roman"/>
              </a:rPr>
              <a:t>drop_shuffle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4138000" y="8064000"/>
            <a:ext cx="2448000" cy="504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4210000" y="8136000"/>
            <a:ext cx="230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Times New Roman"/>
              </a:rPr>
              <a:t>Note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5498000" y="8568000"/>
            <a:ext cx="4248000" cy="504000"/>
          </a:xfrm>
          <a:prstGeom prst="rect">
            <a:avLst/>
          </a:prstGeom>
          <a:solidFill>
            <a:srgbClr val="F8F9FA"/>
          </a:solidFill>
          <a:ln w="25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5570000" y="8604000"/>
            <a:ext cx="410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6C757D"/>
                </a:solidFill>
                <a:latin typeface="Times New Roman"/>
              </a:rPr>
              <a:t>Equal Power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9746000" y="8568000"/>
            <a:ext cx="1368000" cy="504000"/>
          </a:xfrm>
          <a:prstGeom prst="rect">
            <a:avLst/>
          </a:prstGeom>
          <a:solidFill>
            <a:srgbClr val="F8F9FA"/>
          </a:solidFill>
          <a:ln w="25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9818000" y="8604000"/>
            <a:ext cx="122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6C757D"/>
                </a:solidFill>
                <a:latin typeface="Times New Roman"/>
              </a:rPr>
              <a:t>−5.332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1114000" y="8568000"/>
            <a:ext cx="1368000" cy="504000"/>
          </a:xfrm>
          <a:prstGeom prst="rect">
            <a:avLst/>
          </a:prstGeom>
          <a:solidFill>
            <a:srgbClr val="F8F9FA"/>
          </a:solidFill>
          <a:ln w="25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1186000" y="8604000"/>
            <a:ext cx="122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6C757D"/>
                </a:solidFill>
                <a:latin typeface="Times New Roman"/>
              </a:rPr>
              <a:t>—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2482000" y="8568000"/>
            <a:ext cx="1656000" cy="504000"/>
          </a:xfrm>
          <a:prstGeom prst="rect">
            <a:avLst/>
          </a:prstGeom>
          <a:solidFill>
            <a:srgbClr val="F8F9FA"/>
          </a:solidFill>
          <a:ln w="25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2554000" y="8604000"/>
            <a:ext cx="151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6C757D"/>
                </a:solidFill>
                <a:latin typeface="Times New Roman"/>
              </a:rPr>
              <a:t>—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4138000" y="8568000"/>
            <a:ext cx="2448000" cy="504000"/>
          </a:xfrm>
          <a:prstGeom prst="rect">
            <a:avLst/>
          </a:prstGeom>
          <a:solidFill>
            <a:srgbClr val="F8F9FA"/>
          </a:solidFill>
          <a:ln w="25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4210000" y="8604000"/>
            <a:ext cx="230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6C757D"/>
                </a:solidFill>
                <a:latin typeface="Times New Roman"/>
              </a:rPr>
              <a:t>Floor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5498000" y="9072000"/>
            <a:ext cx="4248000" cy="504000"/>
          </a:xfrm>
          <a:prstGeom prst="rect">
            <a:avLst/>
          </a:prstGeom>
          <a:solidFill>
            <a:srgbClr val="FFFFFF"/>
          </a:solidFill>
          <a:ln w="25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5570000" y="9108000"/>
            <a:ext cx="410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212529"/>
                </a:solidFill>
                <a:latin typeface="Times New Roman"/>
              </a:rPr>
              <a:t>HASAC (no z, seq 400k)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9746000" y="9072000"/>
            <a:ext cx="1368000" cy="504000"/>
          </a:xfrm>
          <a:prstGeom prst="rect">
            <a:avLst/>
          </a:prstGeom>
          <a:solidFill>
            <a:srgbClr val="FFFFFF"/>
          </a:solidFill>
          <a:ln w="25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9818000" y="9108000"/>
            <a:ext cx="122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212529"/>
                </a:solidFill>
                <a:latin typeface="Times New Roman"/>
              </a:rPr>
              <a:t>−2.581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1114000" y="9072000"/>
            <a:ext cx="1368000" cy="504000"/>
          </a:xfrm>
          <a:prstGeom prst="rect">
            <a:avLst/>
          </a:prstGeom>
          <a:solidFill>
            <a:srgbClr val="FFFFFF"/>
          </a:solidFill>
          <a:ln w="25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186000" y="9108000"/>
            <a:ext cx="122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212529"/>
                </a:solidFill>
                <a:latin typeface="Times New Roman"/>
              </a:rPr>
              <a:t>—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2482000" y="9072000"/>
            <a:ext cx="1656000" cy="504000"/>
          </a:xfrm>
          <a:prstGeom prst="rect">
            <a:avLst/>
          </a:prstGeom>
          <a:solidFill>
            <a:srgbClr val="FFFFFF"/>
          </a:solidFill>
          <a:ln w="25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2554000" y="9108000"/>
            <a:ext cx="151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212529"/>
                </a:solidFill>
                <a:latin typeface="Times New Roman"/>
              </a:rPr>
              <a:t>—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4138000" y="9072000"/>
            <a:ext cx="2448000" cy="504000"/>
          </a:xfrm>
          <a:prstGeom prst="rect">
            <a:avLst/>
          </a:prstGeom>
          <a:solidFill>
            <a:srgbClr val="FFFFFF"/>
          </a:solidFill>
          <a:ln w="25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4210000" y="9108000"/>
            <a:ext cx="230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212529"/>
                </a:solidFill>
                <a:latin typeface="Times New Roman"/>
              </a:rPr>
              <a:t>Sequential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5498000" y="9576000"/>
            <a:ext cx="4248000" cy="504000"/>
          </a:xfrm>
          <a:prstGeom prst="rect">
            <a:avLst/>
          </a:prstGeom>
          <a:solidFill>
            <a:srgbClr val="FFFFFF"/>
          </a:solidFill>
          <a:ln w="25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5570000" y="9612000"/>
            <a:ext cx="410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212529"/>
                </a:solidFill>
                <a:latin typeface="Times New Roman"/>
              </a:rPr>
              <a:t>C-HASAC geo_z (200k)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9746000" y="9576000"/>
            <a:ext cx="1368000" cy="504000"/>
          </a:xfrm>
          <a:prstGeom prst="rect">
            <a:avLst/>
          </a:prstGeom>
          <a:solidFill>
            <a:srgbClr val="FFFFFF"/>
          </a:solidFill>
          <a:ln w="25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9818000" y="9612000"/>
            <a:ext cx="122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212529"/>
                </a:solidFill>
                <a:latin typeface="Times New Roman"/>
              </a:rPr>
              <a:t>−2.237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21114000" y="9576000"/>
            <a:ext cx="1368000" cy="504000"/>
          </a:xfrm>
          <a:prstGeom prst="rect">
            <a:avLst/>
          </a:prstGeom>
          <a:solidFill>
            <a:srgbClr val="FFFFFF"/>
          </a:solidFill>
          <a:ln w="25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21186000" y="9612000"/>
            <a:ext cx="122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212529"/>
                </a:solidFill>
                <a:latin typeface="Times New Roman"/>
              </a:rPr>
              <a:t>+0.932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2482000" y="9576000"/>
            <a:ext cx="1656000" cy="504000"/>
          </a:xfrm>
          <a:prstGeom prst="rect">
            <a:avLst/>
          </a:prstGeom>
          <a:solidFill>
            <a:srgbClr val="FFFFFF"/>
          </a:solidFill>
          <a:ln w="25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2554000" y="9612000"/>
            <a:ext cx="151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212529"/>
                </a:solidFill>
                <a:latin typeface="Times New Roman"/>
              </a:rPr>
              <a:t>+1.429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24138000" y="9576000"/>
            <a:ext cx="2448000" cy="504000"/>
          </a:xfrm>
          <a:prstGeom prst="rect">
            <a:avLst/>
          </a:prstGeom>
          <a:solidFill>
            <a:srgbClr val="FFFFFF"/>
          </a:solidFill>
          <a:ln w="25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24210000" y="9612000"/>
            <a:ext cx="230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212529"/>
                </a:solidFill>
                <a:latin typeface="Times New Roman"/>
              </a:rPr>
              <a:t>—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5498000" y="10080000"/>
            <a:ext cx="4248000" cy="504000"/>
          </a:xfrm>
          <a:prstGeom prst="rect">
            <a:avLst/>
          </a:prstGeom>
          <a:solidFill>
            <a:srgbClr val="FFFFFF"/>
          </a:solidFill>
          <a:ln w="25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5570000" y="10116000"/>
            <a:ext cx="410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DC3545"/>
                </a:solidFill>
                <a:latin typeface="Times New Roman"/>
              </a:rPr>
              <a:t>C-HASAC + RSRP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9746000" y="10080000"/>
            <a:ext cx="1368000" cy="504000"/>
          </a:xfrm>
          <a:prstGeom prst="rect">
            <a:avLst/>
          </a:prstGeom>
          <a:solidFill>
            <a:srgbClr val="FFFFFF"/>
          </a:solidFill>
          <a:ln w="25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9818000" y="10116000"/>
            <a:ext cx="122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DC3545"/>
                </a:solidFill>
                <a:latin typeface="Times New Roman"/>
              </a:rPr>
              <a:t>−3.763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1114000" y="10080000"/>
            <a:ext cx="1368000" cy="504000"/>
          </a:xfrm>
          <a:prstGeom prst="rect">
            <a:avLst/>
          </a:prstGeom>
          <a:solidFill>
            <a:srgbClr val="FFFFFF"/>
          </a:solidFill>
          <a:ln w="25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21186000" y="10116000"/>
            <a:ext cx="122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DC3545"/>
                </a:solidFill>
                <a:latin typeface="Times New Roman"/>
              </a:rPr>
              <a:t>+0.688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22482000" y="10080000"/>
            <a:ext cx="1656000" cy="504000"/>
          </a:xfrm>
          <a:prstGeom prst="rect">
            <a:avLst/>
          </a:prstGeom>
          <a:solidFill>
            <a:srgbClr val="FFFFFF"/>
          </a:solidFill>
          <a:ln w="25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22554000" y="10116000"/>
            <a:ext cx="151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DC3545"/>
                </a:solidFill>
                <a:latin typeface="Times New Roman"/>
              </a:rPr>
              <a:t>+0.261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24138000" y="10080000"/>
            <a:ext cx="2448000" cy="504000"/>
          </a:xfrm>
          <a:prstGeom prst="rect">
            <a:avLst/>
          </a:prstGeom>
          <a:solidFill>
            <a:srgbClr val="FFFFFF"/>
          </a:solidFill>
          <a:ln w="25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4210000" y="10116000"/>
            <a:ext cx="230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DC3545"/>
                </a:solidFill>
                <a:latin typeface="Times New Roman"/>
              </a:rPr>
              <a:t>z ignored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5498000" y="10584000"/>
            <a:ext cx="4248000" cy="504000"/>
          </a:xfrm>
          <a:prstGeom prst="rect">
            <a:avLst/>
          </a:prstGeom>
          <a:solidFill>
            <a:srgbClr val="FFFFFF"/>
          </a:solidFill>
          <a:ln w="25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5570000" y="10620000"/>
            <a:ext cx="410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DC3545"/>
                </a:solidFill>
                <a:latin typeface="Times New Roman"/>
              </a:rPr>
              <a:t>C-HASAC + Critic BC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9746000" y="10584000"/>
            <a:ext cx="1368000" cy="504000"/>
          </a:xfrm>
          <a:prstGeom prst="rect">
            <a:avLst/>
          </a:prstGeom>
          <a:solidFill>
            <a:srgbClr val="FFFFFF"/>
          </a:solidFill>
          <a:ln w="25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9818000" y="10620000"/>
            <a:ext cx="122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DC3545"/>
                </a:solidFill>
                <a:latin typeface="Times New Roman"/>
              </a:rPr>
              <a:t>−2.606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21114000" y="10584000"/>
            <a:ext cx="1368000" cy="504000"/>
          </a:xfrm>
          <a:prstGeom prst="rect">
            <a:avLst/>
          </a:prstGeom>
          <a:solidFill>
            <a:srgbClr val="FFFFFF"/>
          </a:solidFill>
          <a:ln w="25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21186000" y="10620000"/>
            <a:ext cx="122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DC3545"/>
                </a:solidFill>
                <a:latin typeface="Times New Roman"/>
              </a:rPr>
              <a:t>−4.269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22482000" y="10584000"/>
            <a:ext cx="1656000" cy="504000"/>
          </a:xfrm>
          <a:prstGeom prst="rect">
            <a:avLst/>
          </a:prstGeom>
          <a:solidFill>
            <a:srgbClr val="FFFFFF"/>
          </a:solidFill>
          <a:ln w="25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22554000" y="10620000"/>
            <a:ext cx="151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DC3545"/>
                </a:solidFill>
                <a:latin typeface="Times New Roman"/>
              </a:rPr>
              <a:t>−0.453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24138000" y="10584000"/>
            <a:ext cx="2448000" cy="504000"/>
          </a:xfrm>
          <a:prstGeom prst="rect">
            <a:avLst/>
          </a:prstGeom>
          <a:solidFill>
            <a:srgbClr val="FFFFFF"/>
          </a:solidFill>
          <a:ln w="25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24210000" y="10620000"/>
            <a:ext cx="230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DC3545"/>
                </a:solidFill>
                <a:latin typeface="Times New Roman"/>
              </a:rPr>
              <a:t>z harmful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5498000" y="11088000"/>
            <a:ext cx="4248000" cy="504000"/>
          </a:xfrm>
          <a:prstGeom prst="rect">
            <a:avLst/>
          </a:prstGeom>
          <a:solidFill>
            <a:srgbClr val="DFF0F8"/>
          </a:solidFill>
          <a:ln w="25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5570000" y="11124000"/>
            <a:ext cx="410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8A745"/>
                </a:solidFill>
                <a:latin typeface="Times New Roman"/>
              </a:rPr>
              <a:t>C-HASAC geo_z (400k) ★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9746000" y="11088000"/>
            <a:ext cx="1368000" cy="504000"/>
          </a:xfrm>
          <a:prstGeom prst="rect">
            <a:avLst/>
          </a:prstGeom>
          <a:solidFill>
            <a:srgbClr val="DFF0F8"/>
          </a:solidFill>
          <a:ln w="25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9818000" y="11124000"/>
            <a:ext cx="122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8A745"/>
                </a:solidFill>
                <a:latin typeface="Times New Roman"/>
              </a:rPr>
              <a:t>−1.162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21114000" y="11088000"/>
            <a:ext cx="1368000" cy="504000"/>
          </a:xfrm>
          <a:prstGeom prst="rect">
            <a:avLst/>
          </a:prstGeom>
          <a:solidFill>
            <a:srgbClr val="DFF0F8"/>
          </a:solidFill>
          <a:ln w="25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21186000" y="11124000"/>
            <a:ext cx="122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8A745"/>
                </a:solidFill>
                <a:latin typeface="Times New Roman"/>
              </a:rPr>
              <a:t>+3.565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22482000" y="11088000"/>
            <a:ext cx="1656000" cy="504000"/>
          </a:xfrm>
          <a:prstGeom prst="rect">
            <a:avLst/>
          </a:prstGeom>
          <a:solidFill>
            <a:srgbClr val="DFF0F8"/>
          </a:solidFill>
          <a:ln w="25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22554000" y="11124000"/>
            <a:ext cx="151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8A745"/>
                </a:solidFill>
                <a:latin typeface="Times New Roman"/>
              </a:rPr>
              <a:t>+2.278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24138000" y="11088000"/>
            <a:ext cx="2448000" cy="504000"/>
          </a:xfrm>
          <a:prstGeom prst="rect">
            <a:avLst/>
          </a:prstGeom>
          <a:solidFill>
            <a:srgbClr val="DFF0F8"/>
          </a:solidFill>
          <a:ln w="25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24210000" y="11124000"/>
            <a:ext cx="230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8A745"/>
                </a:solidFill>
                <a:latin typeface="Times New Roman"/>
              </a:rPr>
              <a:t>400k, BEST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15498000" y="11592000"/>
            <a:ext cx="4248000" cy="504000"/>
          </a:xfrm>
          <a:prstGeom prst="rect">
            <a:avLst/>
          </a:prstGeom>
          <a:solidFill>
            <a:srgbClr val="F8F9FA"/>
          </a:solidFill>
          <a:ln w="25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15570000" y="11628000"/>
            <a:ext cx="410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6C757D"/>
                </a:solidFill>
                <a:latin typeface="Times New Roman"/>
              </a:rPr>
              <a:t>PF-WSR oracle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19746000" y="11592000"/>
            <a:ext cx="1368000" cy="504000"/>
          </a:xfrm>
          <a:prstGeom prst="rect">
            <a:avLst/>
          </a:prstGeom>
          <a:solidFill>
            <a:srgbClr val="F8F9FA"/>
          </a:solidFill>
          <a:ln w="25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19818000" y="11628000"/>
            <a:ext cx="122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6C757D"/>
                </a:solidFill>
                <a:latin typeface="Times New Roman"/>
              </a:rPr>
              <a:t>+23.529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21114000" y="11592000"/>
            <a:ext cx="1368000" cy="504000"/>
          </a:xfrm>
          <a:prstGeom prst="rect">
            <a:avLst/>
          </a:prstGeom>
          <a:solidFill>
            <a:srgbClr val="F8F9FA"/>
          </a:solidFill>
          <a:ln w="25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21186000" y="11628000"/>
            <a:ext cx="122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6C757D"/>
                </a:solidFill>
                <a:latin typeface="Times New Roman"/>
              </a:rPr>
              <a:t>—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22482000" y="11592000"/>
            <a:ext cx="1656000" cy="504000"/>
          </a:xfrm>
          <a:prstGeom prst="rect">
            <a:avLst/>
          </a:prstGeom>
          <a:solidFill>
            <a:srgbClr val="F8F9FA"/>
          </a:solidFill>
          <a:ln w="25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22554000" y="11628000"/>
            <a:ext cx="151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6C757D"/>
                </a:solidFill>
                <a:latin typeface="Times New Roman"/>
              </a:rPr>
              <a:t>—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24138000" y="11592000"/>
            <a:ext cx="2448000" cy="504000"/>
          </a:xfrm>
          <a:prstGeom prst="rect">
            <a:avLst/>
          </a:prstGeom>
          <a:solidFill>
            <a:srgbClr val="F8F9FA"/>
          </a:solidFill>
          <a:ln w="25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24210000" y="11628000"/>
            <a:ext cx="230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6C757D"/>
                </a:solidFill>
                <a:latin typeface="Times New Roman"/>
              </a:rPr>
              <a:t>Full-CSI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5498000" y="12384000"/>
            <a:ext cx="1395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A3A5C"/>
                </a:solidFill>
                <a:latin typeface="Times New Roman"/>
              </a:rPr>
              <a:t>Z-Ablation:  drop_shuffle by Configuration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5966000" y="14400000"/>
            <a:ext cx="13482000" cy="2160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5498000" y="12888000"/>
            <a:ext cx="43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600" b="0" i="0">
                <a:solidFill>
                  <a:srgbClr val="6C757D"/>
                </a:solidFill>
                <a:latin typeface="Times New Roman"/>
              </a:rPr>
              <a:t/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5498000" y="13248000"/>
            <a:ext cx="43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600" b="0" i="0">
                <a:solidFill>
                  <a:srgbClr val="6C757D"/>
                </a:solidFill>
                <a:latin typeface="Times New Roman"/>
              </a:rPr>
              <a:t>+1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5498000" y="12240000"/>
            <a:ext cx="43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600" b="0" i="0">
                <a:solidFill>
                  <a:srgbClr val="6C757D"/>
                </a:solidFill>
                <a:latin typeface="Times New Roman"/>
              </a:rPr>
              <a:t>+2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6398000" y="12753792"/>
            <a:ext cx="1584000" cy="164620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6398000" y="12393792"/>
            <a:ext cx="158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E86AB"/>
                </a:solidFill>
                <a:latin typeface="Times New Roman"/>
              </a:rPr>
              <a:t>+1.43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6254000" y="14832000"/>
            <a:ext cx="187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12529"/>
                </a:solidFill>
                <a:latin typeface="Times New Roman"/>
              </a:rPr>
              <a:t>geo_z
200k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18630000" y="11775744"/>
            <a:ext cx="1584000" cy="262425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18630000" y="11415744"/>
            <a:ext cx="158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3A5C"/>
                </a:solidFill>
                <a:latin typeface="Times New Roman"/>
              </a:rPr>
              <a:t>+2.28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8486000" y="14832000"/>
            <a:ext cx="187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12529"/>
                </a:solidFill>
                <a:latin typeface="Times New Roman"/>
              </a:rPr>
              <a:t>geo_z
400k ★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20862000" y="14099328"/>
            <a:ext cx="1584000" cy="3006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20862000" y="13739328"/>
            <a:ext cx="158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67E22"/>
                </a:solidFill>
                <a:latin typeface="Times New Roman"/>
              </a:rPr>
              <a:t>+0.26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20718000" y="14832000"/>
            <a:ext cx="187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12529"/>
                </a:solidFill>
                <a:latin typeface="Times New Roman"/>
              </a:rPr>
              <a:t>+RSRP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23094000" y="14400000"/>
            <a:ext cx="1584000" cy="521856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23094000" y="14993856"/>
            <a:ext cx="158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C3545"/>
                </a:solidFill>
                <a:latin typeface="Times New Roman"/>
              </a:rPr>
              <a:t>−0.45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22950000" y="15353856"/>
            <a:ext cx="187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12529"/>
                </a:solidFill>
                <a:latin typeface="Times New Roman"/>
              </a:rPr>
              <a:t>+Critic
BC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15318000" y="23616000"/>
            <a:ext cx="14310000" cy="1512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15462000" y="23760000"/>
            <a:ext cx="14022000" cy="12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400" b="1" i="0">
                <a:solidFill>
                  <a:srgbClr val="FFFFFF"/>
                </a:solidFill>
                <a:latin typeface="Times New Roman"/>
              </a:rPr>
              <a:t>Analysis &amp; Discussion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15318000" y="25128000"/>
            <a:ext cx="14310000" cy="10800000"/>
          </a:xfrm>
          <a:prstGeom prst="rect">
            <a:avLst/>
          </a:prstGeom>
          <a:solidFill>
            <a:srgbClr val="FFFFFF"/>
          </a:solidFill>
          <a:ln w="508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15498000" y="25344000"/>
            <a:ext cx="6903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28A745"/>
                </a:solidFill>
                <a:latin typeface="Times New Roman"/>
              </a:rPr>
              <a:t>Why z works (geo_z)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5498000" y="25992000"/>
            <a:ext cx="6903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4200" b="1" i="0">
                <a:solidFill>
                  <a:srgbClr val="212529"/>
                </a:solidFill>
                <a:latin typeface="Times New Roman"/>
              </a:rPr>
              <a:t>• BC warm-start unlocks z:</a:t>
            </a:r>
          </a:p>
          <a:p>
            <a:pPr algn="l"/>
            <a:r>
              <a:rPr sz="4200" b="0" i="0">
                <a:solidFill>
                  <a:srgbClr val="212529"/>
                </a:solidFill>
                <a:latin typeface="Times New Roman"/>
              </a:rPr>
              <a:t>  pure RL → drop_shuffle ≈ 0</a:t>
            </a:r>
          </a:p>
          <a:p>
            <a:pPr algn="l"/>
            <a:r>
              <a:rPr sz="4200" b="0" i="0">
                <a:solidFill>
                  <a:srgbClr val="28A745"/>
                </a:solidFill>
                <a:latin typeface="Times New Roman"/>
              </a:rPr>
              <a:t>  +BC 1000 steps → +2.278 ✓</a:t>
            </a:r>
          </a:p>
          <a:p>
            <a:pPr algn="l">
              <a:spcBef>
                <a:spcPts val="400"/>
              </a:spcBef>
            </a:pPr>
            <a:r>
              <a:rPr sz="4200" b="1" i="0">
                <a:solidFill>
                  <a:srgbClr val="212529"/>
                </a:solidFill>
                <a:latin typeface="Times New Roman"/>
              </a:rPr>
              <a:t>• KPM with BS distances →</a:t>
            </a:r>
          </a:p>
          <a:p>
            <a:pPr algn="l"/>
            <a:r>
              <a:rPr sz="4200" b="0" i="0">
                <a:solidFill>
                  <a:srgbClr val="212529"/>
                </a:solidFill>
                <a:latin typeface="Times New Roman"/>
              </a:rPr>
              <a:t>  z encodes spatial topology</a:t>
            </a:r>
          </a:p>
          <a:p>
            <a:pPr algn="l">
              <a:spcBef>
                <a:spcPts val="400"/>
              </a:spcBef>
            </a:pPr>
            <a:r>
              <a:rPr sz="4200" b="1" i="0">
                <a:solidFill>
                  <a:srgbClr val="212529"/>
                </a:solidFill>
                <a:latin typeface="Times New Roman"/>
              </a:rPr>
              <a:t>• drop_shuffle &gt; drop_zero →</a:t>
            </a:r>
          </a:p>
          <a:p>
            <a:pPr algn="l"/>
            <a:r>
              <a:rPr sz="4200" b="0" i="0">
                <a:solidFill>
                  <a:srgbClr val="212529"/>
                </a:solidFill>
                <a:latin typeface="Times New Roman"/>
              </a:rPr>
              <a:t>  z content used, not offset</a:t>
            </a:r>
          </a:p>
          <a:p>
            <a:pPr algn="l"/>
            <a:r>
              <a:rPr sz="4200" b="0" i="0">
                <a:solidFill>
                  <a:srgbClr val="2E86AB"/>
                </a:solidFill>
                <a:latin typeface="Times New Roman"/>
              </a:rPr>
              <a:t>• 400k &gt; 200k: +1.43 → +2.28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22545000" y="25344000"/>
            <a:ext cx="6903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DC3545"/>
                </a:solidFill>
                <a:latin typeface="Times New Roman"/>
              </a:rPr>
              <a:t>Why ablations fail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22545000" y="25992000"/>
            <a:ext cx="6903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4200" b="1" i="0">
                <a:solidFill>
                  <a:srgbClr val="212529"/>
                </a:solidFill>
                <a:latin typeface="Times New Roman"/>
              </a:rPr>
              <a:t>• +RSRP: actor gets neighbor</a:t>
            </a:r>
          </a:p>
          <a:p>
            <a:pPr algn="l"/>
            <a:r>
              <a:rPr sz="4200" b="0" i="0">
                <a:solidFill>
                  <a:srgbClr val="212529"/>
                </a:solidFill>
                <a:latin typeface="Times New Roman"/>
              </a:rPr>
              <a:t>  channel gains → z ignored</a:t>
            </a:r>
          </a:p>
          <a:p>
            <a:pPr algn="l"/>
            <a:r>
              <a:rPr sz="4200" b="0" i="0">
                <a:solidFill>
                  <a:srgbClr val="DC3545"/>
                </a:solidFill>
                <a:latin typeface="Times New Roman"/>
              </a:rPr>
              <a:t>  +1.43 → +0.26 (unused)</a:t>
            </a:r>
          </a:p>
          <a:p>
            <a:pPr algn="l">
              <a:spcBef>
                <a:spcPts val="400"/>
              </a:spcBef>
            </a:pPr>
            <a:r>
              <a:rPr sz="4200" b="1" i="0">
                <a:solidFill>
                  <a:srgbClr val="212529"/>
                </a:solidFill>
                <a:latin typeface="Times New Roman"/>
              </a:rPr>
              <a:t>• +Critic BC: encoder learns</a:t>
            </a:r>
          </a:p>
          <a:p>
            <a:pPr algn="l"/>
            <a:r>
              <a:rPr sz="4200" b="0" i="0">
                <a:solidFill>
                  <a:srgbClr val="212529"/>
                </a:solidFill>
                <a:latin typeface="Times New Roman"/>
              </a:rPr>
              <a:t>  to satisfy pre-trained Q,</a:t>
            </a:r>
          </a:p>
          <a:p>
            <a:pPr algn="l"/>
            <a:r>
              <a:rPr sz="4200" b="0" i="0">
                <a:solidFill>
                  <a:srgbClr val="212529"/>
                </a:solidFill>
                <a:latin typeface="Times New Roman"/>
              </a:rPr>
              <a:t>  not actor → z misleads policy</a:t>
            </a:r>
          </a:p>
          <a:p>
            <a:pPr algn="l">
              <a:spcBef>
                <a:spcPts val="400"/>
              </a:spcBef>
            </a:pPr>
            <a:r>
              <a:rPr sz="4200" b="1" i="0">
                <a:solidFill>
                  <a:srgbClr val="DC3545"/>
                </a:solidFill>
                <a:latin typeface="Times New Roman"/>
              </a:rPr>
              <a:t>  drop_shuffle = −0.45 ✗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15498000" y="31320000"/>
            <a:ext cx="13950000" cy="180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15498000" y="31500000"/>
            <a:ext cx="1395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A3A5C"/>
                </a:solidFill>
                <a:latin typeface="Times New Roman"/>
              </a:rPr>
              <a:t>Open Problem: SAC Q-Overestimation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5498000" y="32112000"/>
            <a:ext cx="1395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0" i="0">
                <a:solidFill>
                  <a:srgbClr val="212529"/>
                </a:solidFill>
                <a:latin typeface="Times New Roman"/>
              </a:rPr>
              <a:t>• Peaks at step ~40–80k then oscillates — max operator amplifies estimation error.</a:t>
            </a:r>
          </a:p>
          <a:p>
            <a:pPr algn="l">
              <a:spcBef>
                <a:spcPts val="400"/>
              </a:spcBef>
            </a:pPr>
            <a:r>
              <a:rPr sz="4200" b="0" i="0">
                <a:solidFill>
                  <a:srgbClr val="212529"/>
                </a:solidFill>
                <a:latin typeface="Times New Roman"/>
              </a:rPr>
              <a:t>• Mitigated: μ-bound=5 + logpf reward + BC warm-start.</a:t>
            </a:r>
          </a:p>
          <a:p>
            <a:pPr algn="l">
              <a:spcBef>
                <a:spcPts val="400"/>
              </a:spcBef>
            </a:pPr>
            <a:r>
              <a:rPr sz="4200" b="0" i="1">
                <a:solidFill>
                  <a:srgbClr val="2E86AB"/>
                </a:solidFill>
                <a:latin typeface="Times New Roman"/>
              </a:rPr>
              <a:t>• Future work: Conservative Q-Learning (CQL) penalty.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15318000" y="36216000"/>
            <a:ext cx="14310000" cy="1512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15462000" y="36360000"/>
            <a:ext cx="14022000" cy="12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400" b="1" i="0">
                <a:solidFill>
                  <a:srgbClr val="FFFFFF"/>
                </a:solidFill>
                <a:latin typeface="Times New Roman"/>
              </a:rPr>
              <a:t>Conclusion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15318000" y="37728000"/>
            <a:ext cx="14310000" cy="9180000"/>
          </a:xfrm>
          <a:prstGeom prst="rect">
            <a:avLst/>
          </a:prstGeom>
          <a:solidFill>
            <a:srgbClr val="FFFFFF"/>
          </a:solidFill>
          <a:ln w="508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15498000" y="38016000"/>
            <a:ext cx="13950000" cy="86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212529"/>
                </a:solidFill>
                <a:latin typeface="Times New Roman"/>
              </a:rPr>
              <a:t>✅  C-HASAC &gt; HASAC by +1.42 PF-U  (−1.162 vs −2.581, 400k steps).</a:t>
            </a:r>
          </a:p>
          <a:p>
            <a:pPr algn="l"/>
            <a:r>
              <a:rPr sz="4200" b="0" i="0">
                <a:solidFill>
                  <a:srgbClr val="212529"/>
                </a:solidFill>
                <a:latin typeface="Times New Roman"/>
              </a:rPr>
              <a:t>    The only difference: actor receives learned latent context z.</a:t>
            </a:r>
          </a:p>
          <a:p>
            <a:pPr algn="l">
              <a:spcBef>
                <a:spcPts val="800"/>
              </a:spcBef>
            </a:pPr>
            <a:r>
              <a:rPr sz="4200" b="1" i="0">
                <a:solidFill>
                  <a:srgbClr val="212529"/>
                </a:solidFill>
                <a:latin typeface="Times New Roman"/>
              </a:rPr>
              <a:t>✅  z is genuinely used: drop_shuffle = +2.278.</a:t>
            </a:r>
          </a:p>
          <a:p>
            <a:pPr algn="l"/>
            <a:r>
              <a:rPr sz="4200" b="0" i="0">
                <a:solidFill>
                  <a:srgbClr val="212529"/>
                </a:solidFill>
                <a:latin typeface="Times New Roman"/>
              </a:rPr>
              <a:t>    Mismatched z hurts more than zeroing — content matters.</a:t>
            </a:r>
          </a:p>
          <a:p>
            <a:pPr algn="l">
              <a:spcBef>
                <a:spcPts val="800"/>
              </a:spcBef>
            </a:pPr>
            <a:r>
              <a:rPr sz="4200" b="1" i="0">
                <a:solidFill>
                  <a:srgbClr val="212529"/>
                </a:solidFill>
                <a:latin typeface="Times New Roman"/>
              </a:rPr>
              <a:t>✅  BC warm-start is the key catalyst (pure RL → drop_shuffle ≈ 0).</a:t>
            </a:r>
          </a:p>
          <a:p>
            <a:pPr algn="l"/>
            <a:r>
              <a:rPr sz="4200" b="0" i="0">
                <a:solidFill>
                  <a:srgbClr val="212529"/>
                </a:solidFill>
                <a:latin typeface="Times New Roman"/>
              </a:rPr>
              <a:t>    1000 expert imitation steps opens the z-usage switch.</a:t>
            </a:r>
          </a:p>
          <a:p>
            <a:pPr algn="l">
              <a:spcBef>
                <a:spcPts val="800"/>
              </a:spcBef>
            </a:pPr>
            <a:r>
              <a:rPr sz="4200" b="1" i="0">
                <a:solidFill>
                  <a:srgbClr val="212529"/>
                </a:solidFill>
                <a:latin typeface="Times New Roman"/>
              </a:rPr>
              <a:t>✅  O-RAN deployable: RIC xApp → E2 interface → gNBs.</a:t>
            </a:r>
          </a:p>
          <a:p>
            <a:pPr algn="l"/>
            <a:r>
              <a:rPr sz="4200" b="0" i="0">
                <a:solidFill>
                  <a:srgbClr val="212529"/>
                </a:solidFill>
                <a:latin typeface="Times New Roman"/>
              </a:rPr>
              <a:t>    No direct inter-BS CSI exchange required at runtime.</a:t>
            </a:r>
          </a:p>
          <a:p>
            <a:pPr algn="l"/>
            <a:r>
              <a:rPr sz="4200" b="0" i="0">
                <a:solidFill>
                  <a:srgbClr val="6C757D"/>
                </a:solidFill>
                <a:latin typeface="Times New Roman"/>
              </a:rPr>
              <a:t>⚠️  Gap to PF-WSR ceiling (+23.529) remains; future: CQL for Q stability.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